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70" r:id="rId2"/>
    <p:sldId id="271" r:id="rId3"/>
    <p:sldId id="257" r:id="rId4"/>
    <p:sldId id="272" r:id="rId5"/>
    <p:sldId id="258" r:id="rId6"/>
    <p:sldId id="261" r:id="rId7"/>
    <p:sldId id="284" r:id="rId8"/>
    <p:sldId id="262" r:id="rId9"/>
    <p:sldId id="263" r:id="rId10"/>
    <p:sldId id="285" r:id="rId11"/>
    <p:sldId id="267" r:id="rId12"/>
    <p:sldId id="268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35" autoAdjust="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1488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85C631-E4E8-45D8-883C-2D3B6B4AF239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DAD298-D52C-4574-B779-C3EA62FD4F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03523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Slide Image Placeholder 1">
            <a:extLst>
              <a:ext uri="{FF2B5EF4-FFF2-40B4-BE49-F238E27FC236}">
                <a16:creationId xmlns:a16="http://schemas.microsoft.com/office/drawing/2014/main" id="{957ADE30-96D3-EC89-4DDC-8F8E5257D8B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1" name="Notes Placeholder 2">
            <a:extLst>
              <a:ext uri="{FF2B5EF4-FFF2-40B4-BE49-F238E27FC236}">
                <a16:creationId xmlns:a16="http://schemas.microsoft.com/office/drawing/2014/main" id="{0E0D0F00-2B55-957A-3234-CDB20EC7831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IN" altLang="en-US"/>
          </a:p>
        </p:txBody>
      </p:sp>
      <p:sp>
        <p:nvSpPr>
          <p:cNvPr id="7172" name="Slide Number Placeholder 3">
            <a:extLst>
              <a:ext uri="{FF2B5EF4-FFF2-40B4-BE49-F238E27FC236}">
                <a16:creationId xmlns:a16="http://schemas.microsoft.com/office/drawing/2014/main" id="{2E10F72E-FEEE-0743-0C48-C14AB6B2A9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7C790AB3-D34C-4DB1-8A4C-747CAEBFD560}" type="slidenum">
              <a:rPr lang="en-IN" altLang="en-US" smtClean="0">
                <a:latin typeface="Calibri" panose="020F0502020204030204" pitchFamily="34" charset="0"/>
              </a:rPr>
              <a:pPr/>
              <a:t>1</a:t>
            </a:fld>
            <a:endParaRPr lang="en-IN" altLang="en-US">
              <a:latin typeface="Calibri" panose="020F0502020204030204" pitchFamily="34" charset="0"/>
            </a:endParaRPr>
          </a:p>
        </p:txBody>
      </p:sp>
      <p:sp>
        <p:nvSpPr>
          <p:cNvPr id="7173" name="Footer Placeholder 4">
            <a:extLst>
              <a:ext uri="{FF2B5EF4-FFF2-40B4-BE49-F238E27FC236}">
                <a16:creationId xmlns:a16="http://schemas.microsoft.com/office/drawing/2014/main" id="{7558CBEA-42A2-6B0C-120C-443313ACF0A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IN" altLang="en-US">
                <a:latin typeface="Calibri" panose="020F0502020204030204" pitchFamily="34" charset="0"/>
              </a:rPr>
              <a:t>Dept. of CSE, GAT                                           2017-18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>
            <a:extLst>
              <a:ext uri="{FF2B5EF4-FFF2-40B4-BE49-F238E27FC236}">
                <a16:creationId xmlns:a16="http://schemas.microsoft.com/office/drawing/2014/main" id="{6609D17F-119E-4B1D-ABBD-53940EDF1313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9459" name="Notes Placeholder 2">
            <a:extLst>
              <a:ext uri="{FF2B5EF4-FFF2-40B4-BE49-F238E27FC236}">
                <a16:creationId xmlns:a16="http://schemas.microsoft.com/office/drawing/2014/main" id="{1C888B25-F3FD-416D-8BE9-A608D215BDD8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IN" altLang="en-US" dirty="0"/>
          </a:p>
        </p:txBody>
      </p:sp>
      <p:sp>
        <p:nvSpPr>
          <p:cNvPr id="19460" name="Slide Number Placeholder 3">
            <a:extLst>
              <a:ext uri="{FF2B5EF4-FFF2-40B4-BE49-F238E27FC236}">
                <a16:creationId xmlns:a16="http://schemas.microsoft.com/office/drawing/2014/main" id="{ADE788C8-69A8-4956-881F-214A6DBB3D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fld id="{D1C98BBF-01F6-470D-A37B-6D74AE336209}" type="slidenum">
              <a:rPr lang="en-IN" altLang="en-US"/>
              <a:pPr/>
              <a:t>2</a:t>
            </a:fld>
            <a:endParaRPr lang="en-IN" altLang="en-US"/>
          </a:p>
        </p:txBody>
      </p:sp>
      <p:sp>
        <p:nvSpPr>
          <p:cNvPr id="19461" name="Footer Placeholder 4">
            <a:extLst>
              <a:ext uri="{FF2B5EF4-FFF2-40B4-BE49-F238E27FC236}">
                <a16:creationId xmlns:a16="http://schemas.microsoft.com/office/drawing/2014/main" id="{1279747B-867C-4CC4-B780-3CA2B346ECA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IN" altLang="en-US"/>
              <a:t>Dept. of CSE, GAT                                           2017-18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8034615-DD77-0DDA-8F4A-E2894C70C4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6484655"/>
              </p:ext>
            </p:extLst>
          </p:nvPr>
        </p:nvGraphicFramePr>
        <p:xfrm>
          <a:off x="347474" y="1819656"/>
          <a:ext cx="8540495" cy="4786030"/>
        </p:xfrm>
        <a:graphic>
          <a:graphicData uri="http://schemas.openxmlformats.org/drawingml/2006/table">
            <a:tbl>
              <a:tblPr/>
              <a:tblGrid>
                <a:gridCol w="10675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963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923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55939">
                <a:tc>
                  <a:txBody>
                    <a:bodyPr/>
                    <a:lstStyle>
                      <a:lvl1pPr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Course</a:t>
                      </a:r>
                      <a:endParaRPr kumimoji="0" lang="en-I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63" marR="4763" marT="0" marB="0" anchor="ctr" horzOverflow="overflow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15000"/>
                        </a:lnSpc>
                        <a:spcBef>
                          <a:spcPct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Mini Project</a:t>
                      </a:r>
                      <a:endParaRPr kumimoji="0" lang="en-I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63" marR="4763" marT="0" marB="0" anchor="ctr" horzOverflow="overflow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Course Code</a:t>
                      </a:r>
                      <a:endParaRPr kumimoji="0" lang="en-I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63" marR="4763" marT="0" marB="0" anchor="ctr" horzOverflow="overflow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15000"/>
                        </a:lnSpc>
                        <a:spcBef>
                          <a:spcPct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CSEP23506</a:t>
                      </a:r>
                      <a:endParaRPr kumimoji="0" lang="en-US" altLang="en-US" sz="16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4763" marR="4763" marT="0" marB="0" anchor="ctr" horzOverflow="overflow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341">
                <a:tc rowSpan="2">
                  <a:txBody>
                    <a:bodyPr/>
                    <a:lstStyle>
                      <a:lvl1pPr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Student Name</a:t>
                      </a:r>
                      <a:endParaRPr kumimoji="0" lang="en-I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63" marR="4763" marT="0" marB="0" anchor="ctr" horzOverflow="overflow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15000"/>
                        </a:lnSpc>
                        <a:spcBef>
                          <a:spcPct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Vignesh P</a:t>
                      </a:r>
                      <a:endParaRPr kumimoji="0" lang="en-I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63" marR="4763" marT="0" marB="0" anchor="ctr" horzOverflow="overflow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USN</a:t>
                      </a:r>
                      <a:endParaRPr kumimoji="0" lang="en-I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63" marR="4763" marT="0" marB="0" anchor="ctr" horzOverflow="overflow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15000"/>
                        </a:lnSpc>
                        <a:spcBef>
                          <a:spcPct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    1GA23CS193</a:t>
                      </a:r>
                      <a:endParaRPr kumimoji="0" lang="en-I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63" marR="4763" marT="0" marB="0" anchor="ctr" horzOverflow="overflow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34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lvl1pPr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15000"/>
                        </a:lnSpc>
                        <a:spcBef>
                          <a:spcPct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Shakthi Vel K</a:t>
                      </a:r>
                      <a:endParaRPr kumimoji="0" lang="en-I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63" marR="4763" marT="0" marB="0" anchor="ctr" horzOverflow="overflow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lvl1pPr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15000"/>
                        </a:lnSpc>
                        <a:spcBef>
                          <a:spcPct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1GA23CS151</a:t>
                      </a:r>
                      <a:endParaRPr kumimoji="0" lang="en-I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763" marR="4763" marT="0" marB="0" anchor="ctr" horzOverflow="overflow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2949">
                <a:tc>
                  <a:txBody>
                    <a:bodyPr/>
                    <a:lstStyle>
                      <a:lvl1pPr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Domain</a:t>
                      </a:r>
                      <a:endParaRPr kumimoji="0" lang="en-I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63" marR="4763" marT="0" marB="0" anchor="ctr" horzOverflow="overflow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Full Stack </a:t>
                      </a:r>
                      <a:endParaRPr kumimoji="0" lang="en-I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63" marR="4763" marT="0" marB="0" anchor="ctr" horzOverflow="overflow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Group No:</a:t>
                      </a:r>
                      <a:endParaRPr kumimoji="0" lang="en-I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63" marR="4763" marT="0" marB="0" anchor="ctr" horzOverflow="overflow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G62</a:t>
                      </a:r>
                      <a:endParaRPr kumimoji="0" lang="en-I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63" marR="4763" marT="0" marB="0" anchor="ctr" horzOverflow="overflow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6555">
                <a:tc>
                  <a:txBody>
                    <a:bodyPr/>
                    <a:lstStyle>
                      <a:lvl1pPr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Project Title</a:t>
                      </a:r>
                      <a:endParaRPr kumimoji="0" lang="en-I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63" marR="4763" marT="0" marB="0" anchor="ctr" horzOverflow="overflow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“</a:t>
                      </a:r>
                      <a:r>
                        <a:rPr lang="en-IN" sz="16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BookMates</a:t>
                      </a: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”</a:t>
                      </a:r>
                      <a:endParaRPr kumimoji="0" lang="en-I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63" marR="4763" marT="0" marB="0" anchor="ctr" horzOverflow="overflow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76755">
                <a:tc>
                  <a:txBody>
                    <a:bodyPr/>
                    <a:lstStyle>
                      <a:lvl1pPr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Guide Name</a:t>
                      </a:r>
                      <a:endParaRPr kumimoji="0" lang="en-I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63" marR="4763" marT="0" marB="0" anchor="ctr" horzOverflow="overflow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742950" indent="-28575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2pPr>
                      <a:lvl3pPr marL="11430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3pPr>
                      <a:lvl4pPr marL="16002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4pPr>
                      <a:lvl5pPr marL="2057400" indent="-228600"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5pPr>
                      <a:lvl6pPr marL="25146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6pPr>
                      <a:lvl7pPr marL="29718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7pPr>
                      <a:lvl8pPr marL="34290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8pPr>
                      <a:lvl9pPr marL="3886200" indent="-228600" fontAlgn="base">
                        <a:spcBef>
                          <a:spcPct val="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Prof. P Sushmita Singh</a:t>
                      </a:r>
                      <a:endParaRPr kumimoji="0" lang="en-I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763" marR="4763" marT="0" marB="0" anchor="ctr" horzOverflow="overflow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6182" name="Image 1" descr="A close-up of a sign  AI-generated content may be incorrect.">
            <a:extLst>
              <a:ext uri="{FF2B5EF4-FFF2-40B4-BE49-F238E27FC236}">
                <a16:creationId xmlns:a16="http://schemas.microsoft.com/office/drawing/2014/main" id="{3CFA22BB-C6A1-C4A5-55F2-E00D974E4108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464" y="283464"/>
            <a:ext cx="8540495" cy="12041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>
            <a:extLst>
              <a:ext uri="{FF2B5EF4-FFF2-40B4-BE49-F238E27FC236}">
                <a16:creationId xmlns:a16="http://schemas.microsoft.com/office/drawing/2014/main" id="{4D770D4D-54C1-41F0-84FD-E5BF7FB5C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797718"/>
            <a:ext cx="7886700" cy="527447"/>
          </a:xfrm>
        </p:spPr>
        <p:txBody>
          <a:bodyPr>
            <a:noAutofit/>
          </a:bodyPr>
          <a:lstStyle/>
          <a:p>
            <a:r>
              <a:rPr lang="en-IN" alt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B680A-6C38-4013-8DEC-DCDB56AC90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04963"/>
            <a:ext cx="7886700" cy="3915966"/>
          </a:xfrm>
        </p:spPr>
        <p:txBody>
          <a:bodyPr rtlCol="0">
            <a:normAutofit fontScale="92500" lnSpcReduction="10000"/>
          </a:bodyPr>
          <a:lstStyle/>
          <a:p>
            <a:pPr>
              <a:defRPr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defRPr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pPr>
              <a:defRPr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>
              <a:defRPr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>
              <a:defRPr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</a:t>
            </a:r>
          </a:p>
          <a:p>
            <a:pPr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Flow Diagram 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 and Description</a:t>
            </a:r>
          </a:p>
          <a:p>
            <a:pPr>
              <a:defRPr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Results(screen shots)</a:t>
            </a:r>
          </a:p>
          <a:p>
            <a:pPr>
              <a:defRPr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>
              <a:defRPr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  <a:p>
            <a:pPr>
              <a:defRPr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Footer Placeholder 9">
            <a:extLst>
              <a:ext uri="{FF2B5EF4-FFF2-40B4-BE49-F238E27FC236}">
                <a16:creationId xmlns:a16="http://schemas.microsoft.com/office/drawing/2014/main" id="{4CC58609-9A77-B264-5087-BA1998760756}"/>
              </a:ext>
            </a:extLst>
          </p:cNvPr>
          <p:cNvSpPr txBox="1">
            <a:spLocks/>
          </p:cNvSpPr>
          <p:nvPr/>
        </p:nvSpPr>
        <p:spPr>
          <a:xfrm>
            <a:off x="28194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CSE,GAT                     2025-26                                                                                                         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 sz="2400" b="1">
                <a:latin typeface="Times New Roman"/>
              </a:defRPr>
            </a:pPr>
            <a:r>
              <a:rPr sz="3600" dirty="0"/>
              <a:t>Introduction </a:t>
            </a:r>
            <a:r>
              <a:rPr lang="en-US" sz="3600" dirty="0"/>
              <a:t>and</a:t>
            </a:r>
            <a:r>
              <a:rPr sz="3600" dirty="0"/>
              <a:t>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📚 Readers, especially students, face high costs in accessing books.</a:t>
            </a:r>
          </a:p>
          <a:p>
            <a:pPr marL="0"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🚫 Limited availability of diverse books in existing systems.</a:t>
            </a:r>
          </a:p>
          <a:p>
            <a:pPr marL="0"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📖 Many books remain unused on shelves, while others lack access.</a:t>
            </a:r>
          </a:p>
          <a:p>
            <a:pPr marL="0"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⚠️ limited centralized and user-friendly platform for effective book exchange.</a:t>
            </a:r>
          </a:p>
          <a:p>
            <a:pPr marL="0"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📊 Lack of tracking or analysis of book usage</a:t>
            </a:r>
          </a:p>
          <a:p>
            <a:pPr marL="0"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🔍 Difficulty in finding specific books</a:t>
            </a:r>
          </a:p>
          <a:p>
            <a:pPr marL="0"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💬 Inefficient communication between contributors and readers</a:t>
            </a:r>
          </a:p>
          <a:p>
            <a:pPr marL="0" indent="0">
              <a:buNone/>
              <a:defRPr sz="2000">
                <a:latin typeface="Times New Roman"/>
              </a:defRPr>
            </a:pPr>
            <a:endParaRPr lang="en-US" sz="2000" dirty="0"/>
          </a:p>
          <a:p>
            <a:pPr marL="0" indent="0">
              <a:buNone/>
              <a:defRPr sz="2000">
                <a:latin typeface="Times New Roman"/>
              </a:defRPr>
            </a:pPr>
            <a:endParaRPr dirty="0"/>
          </a:p>
        </p:txBody>
      </p:sp>
      <p:sp>
        <p:nvSpPr>
          <p:cNvPr id="4" name="Footer Placeholder 9">
            <a:extLst>
              <a:ext uri="{FF2B5EF4-FFF2-40B4-BE49-F238E27FC236}">
                <a16:creationId xmlns:a16="http://schemas.microsoft.com/office/drawing/2014/main" id="{3A7D280B-924F-7A2E-A678-B8A39DE79581}"/>
              </a:ext>
            </a:extLst>
          </p:cNvPr>
          <p:cNvSpPr txBox="1">
            <a:spLocks/>
          </p:cNvSpPr>
          <p:nvPr/>
        </p:nvSpPr>
        <p:spPr>
          <a:xfrm>
            <a:off x="28194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CSE,GAT                     2025-26                                                                                                         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>
            <a:extLst>
              <a:ext uri="{FF2B5EF4-FFF2-40B4-BE49-F238E27FC236}">
                <a16:creationId xmlns:a16="http://schemas.microsoft.com/office/drawing/2014/main" id="{31B0DA52-C490-457E-B1C3-EFAD74738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altLang="en-US" sz="3600" b="1" dirty="0">
                <a:latin typeface="Times New Roman"/>
              </a:rPr>
              <a:t>Literature Survey</a:t>
            </a:r>
          </a:p>
        </p:txBody>
      </p:sp>
      <p:sp>
        <p:nvSpPr>
          <p:cNvPr id="11267" name="Content Placeholder 2">
            <a:extLst>
              <a:ext uri="{FF2B5EF4-FFF2-40B4-BE49-F238E27FC236}">
                <a16:creationId xmlns:a16="http://schemas.microsoft.com/office/drawing/2014/main" id="{37EA8807-814E-434E-A854-959DC39AE1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8343" y="1230085"/>
            <a:ext cx="8654143" cy="5040085"/>
          </a:xfrm>
        </p:spPr>
        <p:txBody>
          <a:bodyPr>
            <a:noAutofit/>
          </a:bodyPr>
          <a:lstStyle/>
          <a:p>
            <a:pPr algn="just">
              <a:buFont typeface="Wingdings" panose="05000000000000000000" pitchFamily="2" charset="2"/>
              <a:buChar char="v"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S. Yoshida, M. Takahara, I. Tanev &amp; K.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Shimohara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“Reading Notes as Media to Enrich Communications between Reader and Book,” IEEE CSDE, 2020.</a:t>
            </a:r>
          </a:p>
          <a:p>
            <a:pPr algn="just">
              <a:buFont typeface="Wingdings" panose="05000000000000000000" pitchFamily="2" charset="2"/>
              <a:buChar char="v"/>
            </a:pP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v"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S. A.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Jebamani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R. Punitha, N. Rajesh, T. Kavin &amp; K. U. A. Abdul Kalam, “Books Tracking and Review Application,” Sri Sai Ram Engineering College, 2022.</a:t>
            </a:r>
          </a:p>
          <a:p>
            <a:pPr marL="0" indent="0" algn="just">
              <a:buNone/>
            </a:pP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v"/>
            </a:pPr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K. Sudharson, H. A. Prasad &amp; S. Smriti, “A Survey on Reader’s Society: New Social Network of Book Swapping Platform,” IEEE SCEECS, 2023.</a:t>
            </a:r>
          </a:p>
          <a:p>
            <a:pPr marL="0" indent="0" algn="just">
              <a:buNone/>
            </a:pPr>
            <a:endParaRPr lang="en-US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v"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 Jobst, D.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Atzberger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R. Henker, W. Scheibel &amp; J.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Döllner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,“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OrderBookVis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 Visualization Approach for Comparing Order Books,” IEEE ICBC, 2023.</a:t>
            </a:r>
          </a:p>
          <a:p>
            <a:pPr marL="0" indent="0" algn="just">
              <a:buNone/>
            </a:pP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v"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Y. Cui, P. Zhou, K. Li, B. Seng &amp; H. Cao, “Extracting Aspect Sentiment from Users’ Book Reviews for Recommendation,” CLNLP, 2024.</a:t>
            </a:r>
          </a:p>
        </p:txBody>
      </p:sp>
      <p:sp>
        <p:nvSpPr>
          <p:cNvPr id="2" name="Footer Placeholder 9">
            <a:extLst>
              <a:ext uri="{FF2B5EF4-FFF2-40B4-BE49-F238E27FC236}">
                <a16:creationId xmlns:a16="http://schemas.microsoft.com/office/drawing/2014/main" id="{5A9F6B99-CA2A-3103-28F6-E876CFB9AD8A}"/>
              </a:ext>
            </a:extLst>
          </p:cNvPr>
          <p:cNvSpPr txBox="1">
            <a:spLocks/>
          </p:cNvSpPr>
          <p:nvPr/>
        </p:nvSpPr>
        <p:spPr>
          <a:xfrm>
            <a:off x="28194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CSE,GAT                     2025-26                                                                                                         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 sz="2400" b="1">
                <a:latin typeface="Times New Roman"/>
              </a:defRPr>
            </a:pPr>
            <a:r>
              <a:rPr sz="3600" dirty="0"/>
              <a:t>Objectives of the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📚 To design a </a:t>
            </a:r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online platform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book exchange.</a:t>
            </a:r>
          </a:p>
          <a:p>
            <a:pPr marL="0"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🔄 To enable users to </a:t>
            </a:r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list, request, and swap books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seamlessly.</a:t>
            </a:r>
          </a:p>
          <a:p>
            <a:pPr marL="0"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📊 To provide </a:t>
            </a:r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tracking and management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book exchanges.</a:t>
            </a:r>
          </a:p>
          <a:p>
            <a:pPr marL="0"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👥 To build a </a:t>
            </a:r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Community-driven platform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that promotes</a:t>
            </a:r>
          </a:p>
          <a:p>
            <a:pPr marL="0"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collaboration and sharing.</a:t>
            </a:r>
          </a:p>
          <a:p>
            <a:pPr marL="0" indent="0" algn="just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🌱 To encourage </a:t>
            </a:r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reuse and sustainability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through book swapping.</a:t>
            </a:r>
          </a:p>
          <a:p>
            <a:pPr marL="0" indent="0">
              <a:buNone/>
              <a:defRPr sz="2000">
                <a:latin typeface="Times New Roman"/>
              </a:defRPr>
            </a:pPr>
            <a:endParaRPr lang="en-US" dirty="0"/>
          </a:p>
        </p:txBody>
      </p:sp>
      <p:sp>
        <p:nvSpPr>
          <p:cNvPr id="4" name="Footer Placeholder 9">
            <a:extLst>
              <a:ext uri="{FF2B5EF4-FFF2-40B4-BE49-F238E27FC236}">
                <a16:creationId xmlns:a16="http://schemas.microsoft.com/office/drawing/2014/main" id="{E05CFAE0-8EAB-A7C7-762C-C52EDB3EE8ED}"/>
              </a:ext>
            </a:extLst>
          </p:cNvPr>
          <p:cNvSpPr txBox="1">
            <a:spLocks/>
          </p:cNvSpPr>
          <p:nvPr/>
        </p:nvSpPr>
        <p:spPr>
          <a:xfrm>
            <a:off x="28194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CSE,GAT                     2025-26                                                                                                         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 sz="2400" b="1">
                <a:latin typeface="Times New Roman"/>
              </a:defRPr>
            </a:pPr>
            <a:r>
              <a:rPr sz="3600" dirty="0"/>
              <a:t>System Architecture / Block Diagram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39189FF-1451-3092-802D-DD5A4233E1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389" y="1417638"/>
            <a:ext cx="8611877" cy="3701143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4C132C1-F083-7F22-FBB8-20543BFB3B3C}"/>
              </a:ext>
            </a:extLst>
          </p:cNvPr>
          <p:cNvSpPr txBox="1"/>
          <p:nvPr/>
        </p:nvSpPr>
        <p:spPr>
          <a:xfrm>
            <a:off x="2775857" y="5323114"/>
            <a:ext cx="4114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1 Architecture of Book Exchange Platform</a:t>
            </a:r>
          </a:p>
          <a:p>
            <a:endParaRPr lang="en-IN" sz="1400" dirty="0"/>
          </a:p>
        </p:txBody>
      </p:sp>
      <p:sp>
        <p:nvSpPr>
          <p:cNvPr id="11" name="Footer Placeholder 9">
            <a:extLst>
              <a:ext uri="{FF2B5EF4-FFF2-40B4-BE49-F238E27FC236}">
                <a16:creationId xmlns:a16="http://schemas.microsoft.com/office/drawing/2014/main" id="{16A86C6E-27B6-57A8-84EC-171C8FAE6D97}"/>
              </a:ext>
            </a:extLst>
          </p:cNvPr>
          <p:cNvSpPr txBox="1">
            <a:spLocks/>
          </p:cNvSpPr>
          <p:nvPr/>
        </p:nvSpPr>
        <p:spPr>
          <a:xfrm>
            <a:off x="28194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CSE,GAT                     2025-26                                                                                                         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492D8-3731-AD46-85BC-33E07A1B4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77E24-FEE0-D7E1-249B-994D4A366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 sz="2400" b="1">
                <a:latin typeface="Times New Roman"/>
              </a:defRPr>
            </a:pPr>
            <a:r>
              <a:rPr lang="en-US" sz="3600" dirty="0"/>
              <a:t>Data Flow Diagram</a:t>
            </a:r>
            <a:r>
              <a:rPr sz="3600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3DC250-3FFE-E58A-9988-1619F40CC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486" y="1100945"/>
            <a:ext cx="7141028" cy="492984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E9D8F3-AE93-28C0-38B7-D177CE8B0117}"/>
              </a:ext>
            </a:extLst>
          </p:cNvPr>
          <p:cNvSpPr txBox="1"/>
          <p:nvPr/>
        </p:nvSpPr>
        <p:spPr>
          <a:xfrm>
            <a:off x="3396342" y="5876905"/>
            <a:ext cx="27976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2 Data Flow Diagram</a:t>
            </a:r>
            <a:endParaRPr lang="en-IN" sz="1400" dirty="0"/>
          </a:p>
        </p:txBody>
      </p:sp>
      <p:sp>
        <p:nvSpPr>
          <p:cNvPr id="7" name="Footer Placeholder 9">
            <a:extLst>
              <a:ext uri="{FF2B5EF4-FFF2-40B4-BE49-F238E27FC236}">
                <a16:creationId xmlns:a16="http://schemas.microsoft.com/office/drawing/2014/main" id="{2B2A8E20-B103-B98C-144F-33060071579E}"/>
              </a:ext>
            </a:extLst>
          </p:cNvPr>
          <p:cNvSpPr txBox="1">
            <a:spLocks/>
          </p:cNvSpPr>
          <p:nvPr/>
        </p:nvSpPr>
        <p:spPr>
          <a:xfrm>
            <a:off x="28194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CSE,GAT                     2025-26                                                                                                         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31452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495"/>
            <a:ext cx="8229600" cy="1143000"/>
          </a:xfrm>
        </p:spPr>
        <p:txBody>
          <a:bodyPr>
            <a:normAutofit/>
          </a:bodyPr>
          <a:lstStyle/>
          <a:p>
            <a:pPr>
              <a:defRPr sz="2400" b="1">
                <a:latin typeface="Times New Roman"/>
              </a:defRPr>
            </a:pPr>
            <a:r>
              <a:rPr sz="3600" dirty="0"/>
              <a:t>Modules and Description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055914"/>
            <a:ext cx="8458200" cy="5070250"/>
          </a:xfrm>
        </p:spPr>
        <p:txBody>
          <a:bodyPr>
            <a:noAutofit/>
          </a:bodyPr>
          <a:lstStyle/>
          <a:p>
            <a:pPr>
              <a:lnSpc>
                <a:spcPct val="110000"/>
              </a:lnSpc>
              <a:spcBef>
                <a:spcPct val="0"/>
              </a:spcBef>
              <a:buFontTx/>
              <a:buNone/>
            </a:pPr>
            <a:r>
              <a:rPr lang="en-IN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🔹 User (Interface Layer)</a:t>
            </a:r>
            <a:endParaRPr lang="en-I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10000"/>
              </a:lnSpc>
              <a:spcBef>
                <a:spcPct val="0"/>
              </a:spcBef>
              <a:buFontTx/>
              <a:buNone/>
            </a:pP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Interacts via web/mobile app.</a:t>
            </a:r>
          </a:p>
          <a:p>
            <a:pPr>
              <a:lnSpc>
                <a:spcPct val="110000"/>
              </a:lnSpc>
              <a:spcBef>
                <a:spcPct val="0"/>
              </a:spcBef>
              <a:buFontTx/>
              <a:buNone/>
            </a:pP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Can register, login, search, request exchanges, and receive notifications.</a:t>
            </a:r>
          </a:p>
          <a:p>
            <a:pPr>
              <a:lnSpc>
                <a:spcPct val="110000"/>
              </a:lnSpc>
              <a:spcBef>
                <a:spcPct val="0"/>
              </a:spcBef>
              <a:buFontTx/>
              <a:buNone/>
            </a:pPr>
            <a:r>
              <a:rPr lang="en-IN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🔹 Book Exchange Platform (Front-End)</a:t>
            </a:r>
            <a:endParaRPr lang="en-I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10000"/>
              </a:lnSpc>
              <a:spcBef>
                <a:spcPct val="0"/>
              </a:spcBef>
              <a:buFontTx/>
              <a:buNone/>
            </a:pP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Register/Login to platform.</a:t>
            </a:r>
          </a:p>
          <a:p>
            <a:pPr>
              <a:lnSpc>
                <a:spcPct val="110000"/>
              </a:lnSpc>
              <a:spcBef>
                <a:spcPct val="0"/>
              </a:spcBef>
              <a:buFontTx/>
              <a:buNone/>
            </a:pP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Request exchanges &amp; search books.</a:t>
            </a:r>
          </a:p>
          <a:p>
            <a:pPr>
              <a:lnSpc>
                <a:spcPct val="110000"/>
              </a:lnSpc>
              <a:spcBef>
                <a:spcPct val="0"/>
              </a:spcBef>
              <a:buFontTx/>
              <a:buNone/>
            </a:pP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Get recommendations &amp; notifications.</a:t>
            </a:r>
          </a:p>
          <a:p>
            <a:pPr>
              <a:lnSpc>
                <a:spcPct val="110000"/>
              </a:lnSpc>
              <a:spcBef>
                <a:spcPct val="0"/>
              </a:spcBef>
              <a:buFontTx/>
              <a:buNone/>
            </a:pPr>
            <a:r>
              <a:rPr lang="en-IN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🔹 Application Server (Core Platform)</a:t>
            </a:r>
            <a:endParaRPr lang="en-I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10000"/>
              </a:lnSpc>
              <a:spcBef>
                <a:spcPct val="0"/>
              </a:spcBef>
              <a:buFontTx/>
              <a:buNone/>
            </a:pP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Handles book listing, exchange requests &amp; approvals.</a:t>
            </a:r>
          </a:p>
          <a:p>
            <a:pPr>
              <a:lnSpc>
                <a:spcPct val="110000"/>
              </a:lnSpc>
              <a:spcBef>
                <a:spcPct val="0"/>
              </a:spcBef>
              <a:buFontTx/>
              <a:buNone/>
            </a:pP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Exchange Request Module for managing transactions.</a:t>
            </a:r>
          </a:p>
          <a:p>
            <a:pPr>
              <a:lnSpc>
                <a:spcPct val="110000"/>
              </a:lnSpc>
              <a:spcBef>
                <a:spcPct val="0"/>
              </a:spcBef>
              <a:buFontTx/>
              <a:buNone/>
            </a:pP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Review &amp; Rating system for trust building.</a:t>
            </a:r>
          </a:p>
          <a:p>
            <a:pPr>
              <a:lnSpc>
                <a:spcPct val="110000"/>
              </a:lnSpc>
              <a:spcBef>
                <a:spcPct val="0"/>
              </a:spcBef>
              <a:buFontTx/>
              <a:buNone/>
            </a:pPr>
            <a:r>
              <a:rPr lang="en-IN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🔹 Database (Storage Layer)</a:t>
            </a:r>
            <a:endParaRPr lang="en-I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10000"/>
              </a:lnSpc>
              <a:spcBef>
                <a:spcPct val="0"/>
              </a:spcBef>
              <a:buFontTx/>
              <a:buNone/>
            </a:pPr>
            <a:r>
              <a:rPr lang="en-IN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User Database</a:t>
            </a: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profile &amp; activity.</a:t>
            </a:r>
          </a:p>
          <a:p>
            <a:pPr>
              <a:lnSpc>
                <a:spcPct val="110000"/>
              </a:lnSpc>
              <a:spcBef>
                <a:spcPct val="0"/>
              </a:spcBef>
              <a:buFontTx/>
              <a:buNone/>
            </a:pPr>
            <a:r>
              <a:rPr lang="en-IN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Book Database</a:t>
            </a: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details &amp; availability.</a:t>
            </a:r>
          </a:p>
          <a:p>
            <a:pPr>
              <a:lnSpc>
                <a:spcPct val="110000"/>
              </a:lnSpc>
              <a:spcBef>
                <a:spcPct val="0"/>
              </a:spcBef>
              <a:buFontTx/>
              <a:buNone/>
            </a:pPr>
            <a:r>
              <a:rPr lang="en-IN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Exchange Records</a:t>
            </a: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pending &amp; completed.</a:t>
            </a:r>
          </a:p>
          <a:p>
            <a:pPr>
              <a:lnSpc>
                <a:spcPct val="110000"/>
              </a:lnSpc>
              <a:spcBef>
                <a:spcPct val="0"/>
              </a:spcBef>
              <a:buFontTx/>
              <a:buNone/>
            </a:pPr>
            <a:r>
              <a:rPr lang="en-IN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Feedback &amp; Ratings</a:t>
            </a:r>
            <a:r>
              <a:rPr lang="en-I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trust management.</a:t>
            </a:r>
          </a:p>
        </p:txBody>
      </p:sp>
      <p:sp>
        <p:nvSpPr>
          <p:cNvPr id="4" name="Footer Placeholder 9">
            <a:extLst>
              <a:ext uri="{FF2B5EF4-FFF2-40B4-BE49-F238E27FC236}">
                <a16:creationId xmlns:a16="http://schemas.microsoft.com/office/drawing/2014/main" id="{E867239A-703C-D158-0A6F-3E603CA57654}"/>
              </a:ext>
            </a:extLst>
          </p:cNvPr>
          <p:cNvSpPr txBox="1">
            <a:spLocks/>
          </p:cNvSpPr>
          <p:nvPr/>
        </p:nvSpPr>
        <p:spPr>
          <a:xfrm>
            <a:off x="28194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CSE,GAT                     2025-26                                                                                                         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17514"/>
            <a:ext cx="8229600" cy="1143000"/>
          </a:xfrm>
        </p:spPr>
        <p:txBody>
          <a:bodyPr>
            <a:normAutofit/>
          </a:bodyPr>
          <a:lstStyle/>
          <a:p>
            <a:pPr>
              <a:defRPr sz="2400" b="1">
                <a:latin typeface="Times New Roman"/>
              </a:defRPr>
            </a:pPr>
            <a:r>
              <a:rPr lang="en-US" sz="3600" dirty="0"/>
              <a:t>Results</a:t>
            </a:r>
            <a:endParaRPr sz="36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01E30F6-8A16-6A25-8038-B32052910C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5945" y="1192705"/>
            <a:ext cx="4526088" cy="2320122"/>
          </a:xfrm>
        </p:spPr>
      </p:pic>
      <p:sp>
        <p:nvSpPr>
          <p:cNvPr id="4" name="Footer Placeholder 9">
            <a:extLst>
              <a:ext uri="{FF2B5EF4-FFF2-40B4-BE49-F238E27FC236}">
                <a16:creationId xmlns:a16="http://schemas.microsoft.com/office/drawing/2014/main" id="{0011D9FB-329B-2777-D7C0-FCB5C70DA8F3}"/>
              </a:ext>
            </a:extLst>
          </p:cNvPr>
          <p:cNvSpPr txBox="1">
            <a:spLocks/>
          </p:cNvSpPr>
          <p:nvPr/>
        </p:nvSpPr>
        <p:spPr>
          <a:xfrm>
            <a:off x="28194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CSE,GAT                     2025-26                                                                                                         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B3CAF7-2361-F48B-D02C-0B76C4122A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946" y="3512827"/>
            <a:ext cx="4526088" cy="229527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FA0E1D6-54A3-3BE8-33BD-16883C58E8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032" y="1192705"/>
            <a:ext cx="4421967" cy="240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06FB382-66DB-68C0-5CED-9809325643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2031" y="3598711"/>
            <a:ext cx="4338311" cy="23201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6EF59-417C-43B1-E36C-CCA0EDAA8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E319C-FAD8-8094-2FDE-86DA08B62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381"/>
            <a:ext cx="8229600" cy="1143000"/>
          </a:xfrm>
        </p:spPr>
        <p:txBody>
          <a:bodyPr>
            <a:normAutofit/>
          </a:bodyPr>
          <a:lstStyle/>
          <a:p>
            <a:pPr>
              <a:defRPr sz="2400" b="1">
                <a:latin typeface="Times New Roman"/>
              </a:defRPr>
            </a:pPr>
            <a:r>
              <a:rPr lang="en-US" sz="3600" dirty="0"/>
              <a:t>Results</a:t>
            </a:r>
            <a:endParaRPr sz="3600" dirty="0"/>
          </a:p>
        </p:txBody>
      </p:sp>
      <p:sp>
        <p:nvSpPr>
          <p:cNvPr id="4" name="Footer Placeholder 9">
            <a:extLst>
              <a:ext uri="{FF2B5EF4-FFF2-40B4-BE49-F238E27FC236}">
                <a16:creationId xmlns:a16="http://schemas.microsoft.com/office/drawing/2014/main" id="{C91BFE1C-EE26-5596-6C28-223410236E11}"/>
              </a:ext>
            </a:extLst>
          </p:cNvPr>
          <p:cNvSpPr txBox="1">
            <a:spLocks/>
          </p:cNvSpPr>
          <p:nvPr/>
        </p:nvSpPr>
        <p:spPr>
          <a:xfrm>
            <a:off x="28194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CSE,GAT                     2025-26                                                                                                         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A268DD3-4EF2-EE14-185C-A107BA5CE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27014"/>
            <a:ext cx="1499915" cy="279054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0C50488-F784-EA65-74BE-73D1B1E710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42" y="3917554"/>
            <a:ext cx="5987144" cy="238095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29B8AB7-5020-AF5B-9AFB-4524218E78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2229" y="1127014"/>
            <a:ext cx="4354285" cy="263762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E1C0C25-EDFA-7F36-79E9-BB2A970A11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1240" y="1127014"/>
            <a:ext cx="4375053" cy="263762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1D0A734-D84D-29EC-6E52-784846968C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9807" y="3824192"/>
            <a:ext cx="2906486" cy="2851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7545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>
            <a:normAutofit/>
          </a:bodyPr>
          <a:lstStyle/>
          <a:p>
            <a:pPr>
              <a:defRPr sz="2400" b="1">
                <a:latin typeface="Times New Roman"/>
              </a:defRPr>
            </a:pPr>
            <a:r>
              <a:rPr sz="3600"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034144"/>
            <a:ext cx="8806543" cy="5092020"/>
          </a:xfrm>
        </p:spPr>
        <p:txBody>
          <a:bodyPr>
            <a:noAutofit/>
          </a:bodyPr>
          <a:lstStyle/>
          <a:p>
            <a:pPr marL="0" indent="0" algn="just">
              <a:lnSpc>
                <a:spcPct val="150000"/>
              </a:lnSpc>
              <a:buNone/>
              <a:defRPr sz="2000">
                <a:latin typeface="Times New Roman"/>
              </a:defRPr>
            </a:pPr>
            <a:r>
              <a:rPr lang="en-US" sz="2000" dirty="0"/>
              <a:t>📚 </a:t>
            </a:r>
            <a:r>
              <a:rPr lang="en-US" sz="2000" b="1" dirty="0"/>
              <a:t>Easy-to-use digital platform</a:t>
            </a:r>
            <a:r>
              <a:rPr lang="en-US" sz="2000" dirty="0"/>
              <a:t> for book lovers to exchange, donate, and explore</a:t>
            </a:r>
          </a:p>
          <a:p>
            <a:pPr marL="0" indent="0" algn="just">
              <a:lnSpc>
                <a:spcPct val="150000"/>
              </a:lnSpc>
              <a:buNone/>
              <a:defRPr sz="2000">
                <a:latin typeface="Times New Roman"/>
              </a:defRPr>
            </a:pPr>
            <a:r>
              <a:rPr lang="en-US" sz="2000" dirty="0"/>
              <a:t>      books.</a:t>
            </a:r>
          </a:p>
          <a:p>
            <a:pPr marL="0" indent="0" algn="just">
              <a:lnSpc>
                <a:spcPct val="150000"/>
              </a:lnSpc>
              <a:buNone/>
              <a:defRPr sz="2000">
                <a:latin typeface="Times New Roman"/>
              </a:defRPr>
            </a:pPr>
            <a:r>
              <a:rPr lang="en-US" sz="2000" dirty="0"/>
              <a:t>🔐 </a:t>
            </a:r>
            <a:r>
              <a:rPr lang="en-US" sz="2000" b="1" dirty="0"/>
              <a:t>Secure login with OTP</a:t>
            </a:r>
            <a:r>
              <a:rPr lang="en-US" sz="2000" dirty="0"/>
              <a:t>, ensuring safe user authentication.</a:t>
            </a:r>
          </a:p>
          <a:p>
            <a:pPr marL="0" indent="0" algn="just">
              <a:lnSpc>
                <a:spcPct val="150000"/>
              </a:lnSpc>
              <a:buNone/>
              <a:defRPr sz="2000">
                <a:latin typeface="Times New Roman"/>
              </a:defRPr>
            </a:pPr>
            <a:r>
              <a:rPr lang="en-US" sz="2000" dirty="0"/>
              <a:t>🧭 </a:t>
            </a:r>
            <a:r>
              <a:rPr lang="en-US" sz="2000" b="1" dirty="0"/>
              <a:t>Personalized dashboard</a:t>
            </a:r>
            <a:r>
              <a:rPr lang="en-US" sz="2000" dirty="0"/>
              <a:t> for managing books and user activities effortlessly.</a:t>
            </a:r>
          </a:p>
          <a:p>
            <a:pPr marL="0" indent="0" algn="just">
              <a:lnSpc>
                <a:spcPct val="150000"/>
              </a:lnSpc>
              <a:buNone/>
              <a:defRPr sz="2000">
                <a:latin typeface="Times New Roman"/>
              </a:defRPr>
            </a:pPr>
            <a:r>
              <a:rPr lang="en-US" sz="2000" dirty="0"/>
              <a:t>📘 </a:t>
            </a:r>
            <a:r>
              <a:rPr lang="en-US" sz="2000" b="1" dirty="0"/>
              <a:t>Simple book management tools</a:t>
            </a:r>
            <a:r>
              <a:rPr lang="en-US" sz="2000" dirty="0"/>
              <a:t> for adding, editing, and organizing books.</a:t>
            </a:r>
          </a:p>
          <a:p>
            <a:pPr marL="0" indent="0" algn="just">
              <a:lnSpc>
                <a:spcPct val="150000"/>
              </a:lnSpc>
              <a:buNone/>
              <a:defRPr sz="2000">
                <a:latin typeface="Times New Roman"/>
              </a:defRPr>
            </a:pPr>
            <a:r>
              <a:rPr lang="en-US" sz="2000" dirty="0"/>
              <a:t>🔍 </a:t>
            </a:r>
            <a:r>
              <a:rPr lang="en-US" sz="2000" b="1" dirty="0"/>
              <a:t>Interactive Explore section</a:t>
            </a:r>
            <a:r>
              <a:rPr lang="en-US" sz="2000" dirty="0"/>
              <a:t> to discover books shared by the community.</a:t>
            </a:r>
          </a:p>
          <a:p>
            <a:pPr marL="0" indent="0" algn="just">
              <a:lnSpc>
                <a:spcPct val="150000"/>
              </a:lnSpc>
              <a:buNone/>
              <a:defRPr sz="2000">
                <a:latin typeface="Times New Roman"/>
              </a:defRPr>
            </a:pPr>
            <a:r>
              <a:rPr lang="en-US" sz="2000" dirty="0"/>
              <a:t>🌱 </a:t>
            </a:r>
            <a:r>
              <a:rPr lang="en-US" sz="2000" b="1" dirty="0"/>
              <a:t>Promotes sustainable reading habits</a:t>
            </a:r>
            <a:r>
              <a:rPr lang="en-US" sz="2000" dirty="0"/>
              <a:t> by encouraging book reuse and sharing.</a:t>
            </a:r>
          </a:p>
          <a:p>
            <a:pPr marL="0" indent="0" algn="just">
              <a:lnSpc>
                <a:spcPct val="150000"/>
              </a:lnSpc>
              <a:buNone/>
              <a:defRPr sz="2000">
                <a:latin typeface="Times New Roman"/>
              </a:defRPr>
            </a:pPr>
            <a:r>
              <a:rPr lang="en-US" sz="2000" dirty="0"/>
              <a:t>🤝 </a:t>
            </a:r>
            <a:r>
              <a:rPr lang="en-US" sz="2000" b="1" dirty="0"/>
              <a:t>Connects readers</a:t>
            </a:r>
            <a:r>
              <a:rPr lang="en-US" sz="2000" dirty="0"/>
              <a:t> and fosters meaningful interactions among book enthusiasts.</a:t>
            </a:r>
          </a:p>
          <a:p>
            <a:pPr marL="0" indent="0" algn="just">
              <a:lnSpc>
                <a:spcPct val="150000"/>
              </a:lnSpc>
              <a:buNone/>
              <a:defRPr sz="2000">
                <a:latin typeface="Times New Roman"/>
              </a:defRPr>
            </a:pPr>
            <a:r>
              <a:rPr lang="en-US" sz="2000" dirty="0"/>
              <a:t>🌟 </a:t>
            </a:r>
            <a:r>
              <a:rPr lang="en-US" sz="2000" b="1" dirty="0"/>
              <a:t>Builds a vibrant reading community</a:t>
            </a:r>
            <a:r>
              <a:rPr lang="en-US" sz="2000" dirty="0"/>
              <a:t> centered around sharing knowledge and</a:t>
            </a:r>
          </a:p>
          <a:p>
            <a:pPr marL="0" indent="0" algn="just">
              <a:lnSpc>
                <a:spcPct val="150000"/>
              </a:lnSpc>
              <a:buNone/>
              <a:defRPr sz="2000">
                <a:latin typeface="Times New Roman"/>
              </a:defRPr>
            </a:pPr>
            <a:r>
              <a:rPr lang="en-US" sz="2000" dirty="0"/>
              <a:t>      stories.</a:t>
            </a:r>
            <a:endParaRPr sz="2000" dirty="0"/>
          </a:p>
        </p:txBody>
      </p:sp>
      <p:sp>
        <p:nvSpPr>
          <p:cNvPr id="4" name="Footer Placeholder 9">
            <a:extLst>
              <a:ext uri="{FF2B5EF4-FFF2-40B4-BE49-F238E27FC236}">
                <a16:creationId xmlns:a16="http://schemas.microsoft.com/office/drawing/2014/main" id="{E2963563-857C-6636-1FB6-D8B17D5E0BD5}"/>
              </a:ext>
            </a:extLst>
          </p:cNvPr>
          <p:cNvSpPr txBox="1">
            <a:spLocks/>
          </p:cNvSpPr>
          <p:nvPr/>
        </p:nvSpPr>
        <p:spPr>
          <a:xfrm>
            <a:off x="28194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CSE,GAT                     2025-26                                                                                                         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244364"/>
            <a:ext cx="8229600" cy="1143000"/>
          </a:xfrm>
        </p:spPr>
        <p:txBody>
          <a:bodyPr>
            <a:normAutofit/>
          </a:bodyPr>
          <a:lstStyle/>
          <a:p>
            <a:pPr>
              <a:defRPr sz="2400" b="1">
                <a:latin typeface="Times New Roman"/>
              </a:defRPr>
            </a:pPr>
            <a:r>
              <a:rPr sz="3600" dirty="0"/>
              <a:t>References</a:t>
            </a:r>
          </a:p>
        </p:txBody>
      </p:sp>
      <p:sp>
        <p:nvSpPr>
          <p:cNvPr id="4" name="Footer Placeholder 9">
            <a:extLst>
              <a:ext uri="{FF2B5EF4-FFF2-40B4-BE49-F238E27FC236}">
                <a16:creationId xmlns:a16="http://schemas.microsoft.com/office/drawing/2014/main" id="{400A0CE6-AE6B-75FE-6699-4451A48AE18B}"/>
              </a:ext>
            </a:extLst>
          </p:cNvPr>
          <p:cNvSpPr txBox="1">
            <a:spLocks/>
          </p:cNvSpPr>
          <p:nvPr/>
        </p:nvSpPr>
        <p:spPr>
          <a:xfrm>
            <a:off x="28194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CSE,GAT                     2025-26                                                                                                         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5FEFEB-5C45-755D-FD3B-C1C3BC811616}"/>
              </a:ext>
            </a:extLst>
          </p:cNvPr>
          <p:cNvSpPr txBox="1"/>
          <p:nvPr/>
        </p:nvSpPr>
        <p:spPr>
          <a:xfrm>
            <a:off x="0" y="607215"/>
            <a:ext cx="9056914" cy="6038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S. Yoshida, M. Takahara, I. Tanev &amp; K.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Shimohara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“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Reading Notes as Media to Enrich Communications between Reader and Book,”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IEEE CSDE, 2020.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S. A.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Jebamani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R. Punitha, N. Rajesh, T. Kavin &amp; K. U. A. Abdul Kalam, “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Books Tracking and Review Application,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 Sri Sai Ram Engineering College, 2022.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K. Sudharson, H. A. Prasad &amp; S. Smriti, “A Survey on Reader’s Society: New Social Network of Book Swapping Platform,” IEEE SCEECS, 2023.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 Jobst, D.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Atzberger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R. Henker, W. Scheibel &amp; J.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Döllner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“</a:t>
            </a:r>
            <a:r>
              <a:rPr lang="en-I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OrderBookVis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 Visualization Approach for Comparing Order Books,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 IEEE ICBC, 2023.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Y. Cui, P. Zhou, K. Li, B. Seng &amp; H. Cao, “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Extracting Aspect Sentiment from Users’ Book Reviews for Recommendation,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 CLNLP, 2024.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I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BookCrossing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Book sharing community. Available at: https://www.bookcrossing.com/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I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NearBook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Platform to buy, sell, and donate used books locally.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</TotalTime>
  <Words>931</Words>
  <Application>Microsoft Office PowerPoint</Application>
  <PresentationFormat>On-screen Show (4:3)</PresentationFormat>
  <Paragraphs>111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Times New Roman</vt:lpstr>
      <vt:lpstr>Wingdings</vt:lpstr>
      <vt:lpstr>Office Theme</vt:lpstr>
      <vt:lpstr>PowerPoint Presentation</vt:lpstr>
      <vt:lpstr>Agenda</vt:lpstr>
      <vt:lpstr>Introduction and Problem Statement</vt:lpstr>
      <vt:lpstr>Literature Survey</vt:lpstr>
      <vt:lpstr>Objectives of the Project</vt:lpstr>
      <vt:lpstr>System Architecture / Block Diagram</vt:lpstr>
      <vt:lpstr>Data Flow Diagram </vt:lpstr>
      <vt:lpstr>Modules and Description</vt:lpstr>
      <vt:lpstr>Results</vt:lpstr>
      <vt:lpstr>Results</vt:lpstr>
      <vt:lpstr>Conclusion</vt:lpstr>
      <vt:lpstr>References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Shakthivel K</dc:creator>
  <cp:keywords/>
  <dc:description>generated using python-pptx</dc:description>
  <cp:lastModifiedBy>Shakthivel K</cp:lastModifiedBy>
  <cp:revision>9</cp:revision>
  <dcterms:created xsi:type="dcterms:W3CDTF">2013-01-27T09:14:16Z</dcterms:created>
  <dcterms:modified xsi:type="dcterms:W3CDTF">2025-11-23T11:51:50Z</dcterms:modified>
  <cp:category/>
</cp:coreProperties>
</file>